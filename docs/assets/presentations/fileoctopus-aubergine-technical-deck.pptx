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/>
            </a:solidFill>
            <a:prstDash val="solid"/>
          </a:ln>
        </p:spPr>
      </p:sp>
      <p:pic>
        <p:nvPicPr>
          <p:cNvPr id="3" name="Image 0" descr="/home/ilya/fileoctopus-showcase/branding/generated/aubergine-technical/fileoctopus-aubergine-technical-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16752" y="0"/>
            <a:ext cx="61722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20640" y="0"/>
            <a:ext cx="2011680" cy="6858000"/>
          </a:xfrm>
          <a:prstGeom prst="rect">
            <a:avLst/>
          </a:prstGeom>
          <a:solidFill>
            <a:srgbClr val="08090A">
              <a:alpha val="88000"/>
            </a:srgbClr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1005840" y="-731520"/>
            <a:ext cx="5303520" cy="5303520"/>
          </a:xfrm>
          <a:prstGeom prst="arc">
            <a:avLst/>
          </a:prstGeom>
          <a:noFill/>
          <a:ln w="20320">
            <a:solidFill>
              <a:srgbClr val="34243F">
                <a:alpha val="78000"/>
              </a:srgbClr>
            </a:solidFill>
            <a:prstDash val="solid"/>
          </a:ln>
        </p:spPr>
      </p:sp>
      <p:pic>
        <p:nvPicPr>
          <p:cNvPr id="6" name="Image 1" descr="/home/ilya/fileoctopus-showcase/branding/generated/aubergine-technical/fileoctopus-aubergine-technical-logo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58368"/>
            <a:ext cx="585216" cy="5852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76809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4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NATIVE FILE OPERATIONS · SELECTED BRAND DIRECTION 03</a:t>
            </a:r>
            <a:endParaRPr lang="en-US" sz="740" dirty="0"/>
          </a:p>
        </p:txBody>
      </p:sp>
      <p:sp>
        <p:nvSpPr>
          <p:cNvPr id="8" name="Text 4"/>
          <p:cNvSpPr/>
          <p:nvPr/>
        </p:nvSpPr>
        <p:spPr>
          <a:xfrm>
            <a:off x="658368" y="149047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9E0D0"/>
                </a:solidFill>
              </a:rPr>
              <a:t>FileOctopus</a:t>
            </a:r>
            <a:endParaRPr lang="en-US" sz="5200" dirty="0"/>
          </a:p>
        </p:txBody>
      </p:sp>
      <p:sp>
        <p:nvSpPr>
          <p:cNvPr id="9" name="Text 5"/>
          <p:cNvSpPr/>
          <p:nvPr/>
        </p:nvSpPr>
        <p:spPr>
          <a:xfrm>
            <a:off x="713232" y="2359152"/>
            <a:ext cx="4983480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CFC4B5"/>
                </a:solidFill>
              </a:rPr>
              <a:t>Dual-pane desktop file manager with a safe Rust boundary and a command-first workflow.</a:t>
            </a:r>
            <a:endParaRPr lang="en-US" sz="1520" dirty="0"/>
          </a:p>
        </p:txBody>
      </p:sp>
      <p:sp>
        <p:nvSpPr>
          <p:cNvPr id="10" name="Text 6"/>
          <p:cNvSpPr/>
          <p:nvPr/>
        </p:nvSpPr>
        <p:spPr>
          <a:xfrm>
            <a:off x="713232" y="36850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2×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713232" y="4187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29AA4"/>
                </a:solidFill>
              </a:rPr>
              <a:t>active panes</a:t>
            </a:r>
            <a:endParaRPr lang="en-US" sz="870" dirty="0"/>
          </a:p>
        </p:txBody>
      </p:sp>
      <p:sp>
        <p:nvSpPr>
          <p:cNvPr id="12" name="Text 8"/>
          <p:cNvSpPr/>
          <p:nvPr/>
        </p:nvSpPr>
        <p:spPr>
          <a:xfrm>
            <a:off x="2176272" y="36850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8E6F8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Rust</a:t>
            </a:r>
            <a:endParaRPr lang="en-US" sz="2700" dirty="0"/>
          </a:p>
        </p:txBody>
      </p:sp>
      <p:sp>
        <p:nvSpPr>
          <p:cNvPr id="13" name="Text 9"/>
          <p:cNvSpPr/>
          <p:nvPr/>
        </p:nvSpPr>
        <p:spPr>
          <a:xfrm>
            <a:off x="2176272" y="4187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29AA4"/>
                </a:solidFill>
              </a:rPr>
              <a:t>privileged boundary</a:t>
            </a:r>
            <a:endParaRPr lang="en-US" sz="870" dirty="0"/>
          </a:p>
        </p:txBody>
      </p:sp>
      <p:sp>
        <p:nvSpPr>
          <p:cNvPr id="14" name="Text 10"/>
          <p:cNvSpPr/>
          <p:nvPr/>
        </p:nvSpPr>
        <p:spPr>
          <a:xfrm>
            <a:off x="4096512" y="368503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E9E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VFS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4096512" y="41879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A29AA4"/>
                </a:solidFill>
              </a:rPr>
              <a:t>local + remote providers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713232" y="605332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191121"/>
          </a:solidFill>
          <a:ln w="7620">
            <a:solidFill>
              <a:srgbClr val="5E8F89">
                <a:alpha val="5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6103620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CFC4B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AUBERGINE</a:t>
            </a:r>
            <a:endParaRPr lang="en-US" sz="660" dirty="0"/>
          </a:p>
        </p:txBody>
      </p:sp>
      <p:sp>
        <p:nvSpPr>
          <p:cNvPr id="18" name="Shape 14"/>
          <p:cNvSpPr/>
          <p:nvPr/>
        </p:nvSpPr>
        <p:spPr>
          <a:xfrm>
            <a:off x="2487168" y="605332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191121"/>
          </a:solidFill>
          <a:ln w="7620">
            <a:solidFill>
              <a:srgbClr val="5E8F89">
                <a:alpha val="5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96896" y="6103620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CFC4B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MUTED TECH</a:t>
            </a:r>
            <a:endParaRPr lang="en-US" sz="660" dirty="0"/>
          </a:p>
        </p:txBody>
      </p:sp>
      <p:sp>
        <p:nvSpPr>
          <p:cNvPr id="20" name="Shape 16"/>
          <p:cNvSpPr/>
          <p:nvPr/>
        </p:nvSpPr>
        <p:spPr>
          <a:xfrm>
            <a:off x="4251960" y="605332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191121"/>
          </a:solidFill>
          <a:ln w="7620">
            <a:solidFill>
              <a:srgbClr val="5E8F89">
                <a:alpha val="55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61688" y="6103620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CFC4B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 NEON</a:t>
            </a:r>
            <a:endParaRPr lang="en-US" sz="6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The file manager for operators, not spectators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" y="1165860"/>
            <a:ext cx="4791456" cy="3209544"/>
          </a:xfrm>
          <a:prstGeom prst="roundRect">
            <a:avLst>
              <a:gd name="adj" fmla="val 2279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051560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1051560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3" name="Image 0" descr="/home/ilya/fileoctopus-showcase/focus_crops/f01_dual_pan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207008"/>
            <a:ext cx="4709160" cy="312724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70448" y="1133856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129844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54496" y="12344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Commander speed</a:t>
            </a:r>
            <a:endParaRPr lang="en-US" sz="1210" dirty="0"/>
          </a:p>
        </p:txBody>
      </p:sp>
      <p:sp>
        <p:nvSpPr>
          <p:cNvPr id="17" name="Text 14"/>
          <p:cNvSpPr/>
          <p:nvPr/>
        </p:nvSpPr>
        <p:spPr>
          <a:xfrm>
            <a:off x="6035040" y="1581912"/>
            <a:ext cx="2157984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Two panes, visible actions, keyboard rhythm, less window juggling.</a:t>
            </a:r>
            <a:endParaRPr lang="en-US" sz="985" dirty="0"/>
          </a:p>
        </p:txBody>
      </p:sp>
      <p:sp>
        <p:nvSpPr>
          <p:cNvPr id="18" name="Shape 15"/>
          <p:cNvSpPr/>
          <p:nvPr/>
        </p:nvSpPr>
        <p:spPr>
          <a:xfrm>
            <a:off x="8732520" y="1133856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897112" y="1298448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16568" y="123444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Native boundary</a:t>
            </a:r>
            <a:endParaRPr lang="en-US" sz="1210" dirty="0"/>
          </a:p>
        </p:txBody>
      </p:sp>
      <p:sp>
        <p:nvSpPr>
          <p:cNvPr id="21" name="Text 18"/>
          <p:cNvSpPr/>
          <p:nvPr/>
        </p:nvSpPr>
        <p:spPr>
          <a:xfrm>
            <a:off x="8897112" y="1581912"/>
            <a:ext cx="2157984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Tauri/Rust owns privileged file work; UI speaks typed intent.</a:t>
            </a:r>
            <a:endParaRPr lang="en-US" sz="985" dirty="0"/>
          </a:p>
        </p:txBody>
      </p:sp>
      <p:sp>
        <p:nvSpPr>
          <p:cNvPr id="22" name="Shape 19"/>
          <p:cNvSpPr/>
          <p:nvPr/>
        </p:nvSpPr>
        <p:spPr>
          <a:xfrm>
            <a:off x="5870448" y="2450592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035040" y="261518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254496" y="255117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Power-user clarity</a:t>
            </a:r>
            <a:endParaRPr lang="en-US" sz="1210" dirty="0"/>
          </a:p>
        </p:txBody>
      </p:sp>
      <p:sp>
        <p:nvSpPr>
          <p:cNvPr id="25" name="Text 22"/>
          <p:cNvSpPr/>
          <p:nvPr/>
        </p:nvSpPr>
        <p:spPr>
          <a:xfrm>
            <a:off x="6035040" y="2898648"/>
            <a:ext cx="2157984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Menus, toolbar, palette and shortcuts converge on the same commands.</a:t>
            </a:r>
            <a:endParaRPr lang="en-US" sz="985" dirty="0"/>
          </a:p>
        </p:txBody>
      </p:sp>
      <p:sp>
        <p:nvSpPr>
          <p:cNvPr id="26" name="Shape 23"/>
          <p:cNvSpPr/>
          <p:nvPr/>
        </p:nvSpPr>
        <p:spPr>
          <a:xfrm>
            <a:off x="8732520" y="2450592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897112" y="261518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116568" y="2551176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Remote-ready</a:t>
            </a:r>
            <a:endParaRPr lang="en-US" sz="1210" dirty="0"/>
          </a:p>
        </p:txBody>
      </p:sp>
      <p:sp>
        <p:nvSpPr>
          <p:cNvPr id="29" name="Text 26"/>
          <p:cNvSpPr/>
          <p:nvPr/>
        </p:nvSpPr>
        <p:spPr>
          <a:xfrm>
            <a:off x="8897112" y="2898648"/>
            <a:ext cx="2157984" cy="44805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Local, SFTP, SMB, S3 and cloud targets keep one pane model.</a:t>
            </a:r>
            <a:endParaRPr lang="en-US" sz="985" dirty="0"/>
          </a:p>
        </p:txBody>
      </p:sp>
      <p:sp>
        <p:nvSpPr>
          <p:cNvPr id="30" name="Text 27"/>
          <p:cNvSpPr/>
          <p:nvPr/>
        </p:nvSpPr>
        <p:spPr>
          <a:xfrm>
            <a:off x="5897880" y="4096512"/>
            <a:ext cx="48463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i="1" dirty="0">
                <a:solidFill>
                  <a:srgbClr val="CFC4B5"/>
                </a:solidFill>
              </a:rPr>
              <a:t>Brand posture: split-pane first, octopus as controlled workflow motion — not a mascot.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First run: make the desktop app feel deliberate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" y="1184148"/>
            <a:ext cx="3849624" cy="2532888"/>
          </a:xfrm>
          <a:prstGeom prst="roundRect">
            <a:avLst>
              <a:gd name="adj" fmla="val 2888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069848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1069848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3" name="Image 0" descr="/home/ilya/fileoctopus-showcase/focus_crops/f02_onboarding_wiz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225296"/>
            <a:ext cx="3767328" cy="24505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92040" y="1225296"/>
            <a:ext cx="5760720" cy="2450592"/>
          </a:xfrm>
          <a:prstGeom prst="roundRect">
            <a:avLst>
              <a:gd name="adj" fmla="val 2985"/>
            </a:avLst>
          </a:prstGeom>
          <a:solidFill>
            <a:srgbClr val="120C19"/>
          </a:solidFill>
          <a:ln w="8890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230368" y="1627632"/>
            <a:ext cx="4937760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E9E0D0"/>
                </a:solidFill>
              </a:rPr>
              <a:t>Onboarding should explain the workspace contract before the user trusts destructive file operations.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257800" y="2761488"/>
            <a:ext cx="4800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C4B5"/>
                </a:solidFill>
              </a:rPr>
              <a:t>Workspace · layout · terminal · connection defaults become explicit choices instead of hidden defaults.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230368" y="340156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191121"/>
          </a:solidFill>
          <a:ln w="7620">
            <a:solidFill>
              <a:srgbClr val="5E8F89">
                <a:alpha val="5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0096" y="3451860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CFC4B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WORKSPACE</a:t>
            </a:r>
            <a:endParaRPr lang="en-US" sz="660" dirty="0"/>
          </a:p>
        </p:txBody>
      </p:sp>
      <p:sp>
        <p:nvSpPr>
          <p:cNvPr id="19" name="Shape 16"/>
          <p:cNvSpPr/>
          <p:nvPr/>
        </p:nvSpPr>
        <p:spPr>
          <a:xfrm>
            <a:off x="7022592" y="340156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191121"/>
          </a:solidFill>
          <a:ln w="7620">
            <a:solidFill>
              <a:srgbClr val="5E8F89">
                <a:alpha val="5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0" y="3451860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CFC4B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TERMINAL</a:t>
            </a:r>
            <a:endParaRPr lang="en-US" sz="660" dirty="0"/>
          </a:p>
        </p:txBody>
      </p:sp>
      <p:sp>
        <p:nvSpPr>
          <p:cNvPr id="21" name="Shape 18"/>
          <p:cNvSpPr/>
          <p:nvPr/>
        </p:nvSpPr>
        <p:spPr>
          <a:xfrm>
            <a:off x="8814816" y="3401568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191121"/>
          </a:solidFill>
          <a:ln w="7620">
            <a:solidFill>
              <a:srgbClr val="5E8F89">
                <a:alpha val="5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24544" y="3451860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CFC4B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REMOTE</a:t>
            </a:r>
            <a:endParaRPr lang="en-US" sz="660" dirty="0"/>
          </a:p>
        </p:txBody>
      </p:sp>
      <p:sp>
        <p:nvSpPr>
          <p:cNvPr id="23" name="Shape 20"/>
          <p:cNvSpPr/>
          <p:nvPr/>
        </p:nvSpPr>
        <p:spPr>
          <a:xfrm>
            <a:off x="658368" y="4626864"/>
            <a:ext cx="2816352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22960" y="4791456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" y="472744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Not a toy demo</a:t>
            </a:r>
            <a:endParaRPr lang="en-US" sz="1210" dirty="0"/>
          </a:p>
        </p:txBody>
      </p:sp>
      <p:sp>
        <p:nvSpPr>
          <p:cNvPr id="26" name="Text 23"/>
          <p:cNvSpPr/>
          <p:nvPr/>
        </p:nvSpPr>
        <p:spPr>
          <a:xfrm>
            <a:off x="822960" y="5074920"/>
            <a:ext cx="248716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First-run flow signals a real desktop product.</a:t>
            </a:r>
            <a:endParaRPr lang="en-US" sz="985" dirty="0"/>
          </a:p>
        </p:txBody>
      </p:sp>
      <p:sp>
        <p:nvSpPr>
          <p:cNvPr id="27" name="Shape 24"/>
          <p:cNvSpPr/>
          <p:nvPr/>
        </p:nvSpPr>
        <p:spPr>
          <a:xfrm>
            <a:off x="3730752" y="4626864"/>
            <a:ext cx="2816352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895344" y="4791456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114800" y="472744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Trust starts early</a:t>
            </a:r>
            <a:endParaRPr lang="en-US" sz="1210" dirty="0"/>
          </a:p>
        </p:txBody>
      </p:sp>
      <p:sp>
        <p:nvSpPr>
          <p:cNvPr id="30" name="Text 27"/>
          <p:cNvSpPr/>
          <p:nvPr/>
        </p:nvSpPr>
        <p:spPr>
          <a:xfrm>
            <a:off x="3895344" y="5074920"/>
            <a:ext cx="248716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The app states what it will manage and how.</a:t>
            </a:r>
            <a:endParaRPr lang="en-US" sz="985" dirty="0"/>
          </a:p>
        </p:txBody>
      </p:sp>
      <p:sp>
        <p:nvSpPr>
          <p:cNvPr id="31" name="Shape 28"/>
          <p:cNvSpPr/>
          <p:nvPr/>
        </p:nvSpPr>
        <p:spPr>
          <a:xfrm>
            <a:off x="6803136" y="4626864"/>
            <a:ext cx="2816352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967728" y="4791456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187184" y="4727448"/>
            <a:ext cx="2267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Power without surprise</a:t>
            </a:r>
            <a:endParaRPr lang="en-US" sz="1210" dirty="0"/>
          </a:p>
        </p:txBody>
      </p:sp>
      <p:sp>
        <p:nvSpPr>
          <p:cNvPr id="34" name="Text 31"/>
          <p:cNvSpPr/>
          <p:nvPr/>
        </p:nvSpPr>
        <p:spPr>
          <a:xfrm>
            <a:off x="6967728" y="5074920"/>
            <a:ext cx="2487168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Defaults are visible before advanced usage.</a:t>
            </a:r>
            <a:endParaRPr lang="en-US" sz="9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One command model, many surfaces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" y="1165860"/>
            <a:ext cx="3328416" cy="2258568"/>
          </a:xfrm>
          <a:prstGeom prst="roundRect">
            <a:avLst>
              <a:gd name="adj" fmla="val 3239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051560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1051560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3" name="Image 0" descr="/home/ilya/fileoctopus-showcase/focus_crops/f03_file_menu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207008"/>
            <a:ext cx="3246120" cy="21762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02252" y="1165860"/>
            <a:ext cx="4745736" cy="521208"/>
          </a:xfrm>
          <a:prstGeom prst="roundRect">
            <a:avLst>
              <a:gd name="adj" fmla="val 14035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62272" y="1051560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0" y="1051560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7" name="Image 1" descr="/home/ilya/fileoctopus-showcase/focus_crops/f15_toolbar_action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207008"/>
            <a:ext cx="4663440" cy="43891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302252" y="2537460"/>
            <a:ext cx="4745736" cy="539496"/>
          </a:xfrm>
          <a:prstGeom prst="roundRect">
            <a:avLst>
              <a:gd name="adj" fmla="val 13559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462272" y="2423160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572000" y="2423160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21" name="Image 2" descr="/home/ilya/fileoctopus-showcase/focus_crops/f14_function_key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43400" y="2578608"/>
            <a:ext cx="4663440" cy="45720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9413748" y="1165860"/>
            <a:ext cx="1435608" cy="2916936"/>
          </a:xfrm>
          <a:prstGeom prst="roundRect">
            <a:avLst>
              <a:gd name="adj" fmla="val 5096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573768" y="1051560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683496" y="1051560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25" name="Image 3" descr="/home/ilya/fileoctopus-showcase/focus_crops/f13_sidebar_network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54896" y="1207008"/>
            <a:ext cx="1353312" cy="283464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4343400" y="1810512"/>
            <a:ext cx="2240280" cy="640080"/>
          </a:xfrm>
          <a:prstGeom prst="roundRect">
            <a:avLst>
              <a:gd name="adj" fmla="val 1142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07992" y="197510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727448" y="1911096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Toolbar</a:t>
            </a:r>
            <a:endParaRPr lang="en-US" sz="1210" dirty="0"/>
          </a:p>
        </p:txBody>
      </p:sp>
      <p:sp>
        <p:nvSpPr>
          <p:cNvPr id="29" name="Text 23"/>
          <p:cNvSpPr/>
          <p:nvPr/>
        </p:nvSpPr>
        <p:spPr>
          <a:xfrm>
            <a:off x="4507992" y="2258568"/>
            <a:ext cx="1911096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Visible frequent actions.</a:t>
            </a:r>
            <a:endParaRPr lang="en-US" sz="985" dirty="0"/>
          </a:p>
        </p:txBody>
      </p:sp>
      <p:sp>
        <p:nvSpPr>
          <p:cNvPr id="30" name="Shape 24"/>
          <p:cNvSpPr/>
          <p:nvPr/>
        </p:nvSpPr>
        <p:spPr>
          <a:xfrm>
            <a:off x="6876288" y="1810512"/>
            <a:ext cx="2130552" cy="640080"/>
          </a:xfrm>
          <a:prstGeom prst="roundRect">
            <a:avLst>
              <a:gd name="adj" fmla="val 1142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040880" y="197510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260336" y="1911096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Function keys</a:t>
            </a:r>
            <a:endParaRPr lang="en-US" sz="1210" dirty="0"/>
          </a:p>
        </p:txBody>
      </p:sp>
      <p:sp>
        <p:nvSpPr>
          <p:cNvPr id="33" name="Text 27"/>
          <p:cNvSpPr/>
          <p:nvPr/>
        </p:nvSpPr>
        <p:spPr>
          <a:xfrm>
            <a:off x="7040880" y="2258568"/>
            <a:ext cx="1801368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Commander muscle memory.</a:t>
            </a:r>
            <a:endParaRPr lang="en-US" sz="985" dirty="0"/>
          </a:p>
        </p:txBody>
      </p:sp>
      <p:sp>
        <p:nvSpPr>
          <p:cNvPr id="34" name="Shape 28"/>
          <p:cNvSpPr/>
          <p:nvPr/>
        </p:nvSpPr>
        <p:spPr>
          <a:xfrm>
            <a:off x="658368" y="4187952"/>
            <a:ext cx="3246120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822960" y="435254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1042416" y="4288536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Menus still matter</a:t>
            </a:r>
            <a:endParaRPr lang="en-US" sz="1210" dirty="0"/>
          </a:p>
        </p:txBody>
      </p:sp>
      <p:sp>
        <p:nvSpPr>
          <p:cNvPr id="37" name="Text 31"/>
          <p:cNvSpPr/>
          <p:nvPr/>
        </p:nvSpPr>
        <p:spPr>
          <a:xfrm>
            <a:off x="822960" y="4636008"/>
            <a:ext cx="29169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They make destructive and advanced actions discoverable.</a:t>
            </a:r>
            <a:endParaRPr lang="en-US" sz="985" dirty="0"/>
          </a:p>
        </p:txBody>
      </p:sp>
      <p:sp>
        <p:nvSpPr>
          <p:cNvPr id="38" name="Shape 32"/>
          <p:cNvSpPr/>
          <p:nvPr/>
        </p:nvSpPr>
        <p:spPr>
          <a:xfrm>
            <a:off x="9162288" y="4343400"/>
            <a:ext cx="2057400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9326880" y="450799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9546336" y="44439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Left rail</a:t>
            </a:r>
            <a:endParaRPr lang="en-US" sz="1210" dirty="0"/>
          </a:p>
        </p:txBody>
      </p:sp>
      <p:sp>
        <p:nvSpPr>
          <p:cNvPr id="41" name="Text 35"/>
          <p:cNvSpPr/>
          <p:nvPr/>
        </p:nvSpPr>
        <p:spPr>
          <a:xfrm>
            <a:off x="9326880" y="4791456"/>
            <a:ext cx="172821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Network, favorites, drives, recent paths.</a:t>
            </a:r>
            <a:endParaRPr lang="en-US" sz="9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Command palette: power without mode switching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58368" y="1124712"/>
            <a:ext cx="461772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CFC4B5"/>
                </a:solidFill>
              </a:rPr>
              <a:t>The command palette becomes the mutation point: typed intent enters, safe actions leave.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8172" y="1129284"/>
            <a:ext cx="4489704" cy="3236976"/>
          </a:xfrm>
          <a:prstGeom prst="roundRect">
            <a:avLst>
              <a:gd name="adj" fmla="val 2260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08192" y="1014984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014984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4" name="Image 0" descr="/home/ilya/fileoctopus-showcase/focus_crops/f04_command_palett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89320" y="1170432"/>
            <a:ext cx="4407408" cy="315468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658368" y="2148840"/>
            <a:ext cx="2560320" cy="932688"/>
          </a:xfrm>
          <a:prstGeom prst="roundRect">
            <a:avLst>
              <a:gd name="adj" fmla="val 7843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2960" y="231343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224942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Search intent</a:t>
            </a:r>
            <a:endParaRPr lang="en-US" sz="1210" dirty="0"/>
          </a:p>
        </p:txBody>
      </p:sp>
      <p:sp>
        <p:nvSpPr>
          <p:cNvPr id="18" name="Text 15"/>
          <p:cNvSpPr/>
          <p:nvPr/>
        </p:nvSpPr>
        <p:spPr>
          <a:xfrm>
            <a:off x="822960" y="2596896"/>
            <a:ext cx="223113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Keyboard-first entry for commands, files and remote actions.</a:t>
            </a:r>
            <a:endParaRPr lang="en-US" sz="985" dirty="0"/>
          </a:p>
        </p:txBody>
      </p:sp>
      <p:sp>
        <p:nvSpPr>
          <p:cNvPr id="19" name="Shape 16"/>
          <p:cNvSpPr/>
          <p:nvPr/>
        </p:nvSpPr>
        <p:spPr>
          <a:xfrm>
            <a:off x="3502152" y="2148840"/>
            <a:ext cx="2057400" cy="932688"/>
          </a:xfrm>
          <a:prstGeom prst="roundRect">
            <a:avLst>
              <a:gd name="adj" fmla="val 7843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66744" y="231343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86200" y="224942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Shared registry</a:t>
            </a:r>
            <a:endParaRPr lang="en-US" sz="1210" dirty="0"/>
          </a:p>
        </p:txBody>
      </p:sp>
      <p:sp>
        <p:nvSpPr>
          <p:cNvPr id="22" name="Text 19"/>
          <p:cNvSpPr/>
          <p:nvPr/>
        </p:nvSpPr>
        <p:spPr>
          <a:xfrm>
            <a:off x="3666744" y="2596896"/>
            <a:ext cx="172821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Menu, toolbar and palette resolve to one command source.</a:t>
            </a:r>
            <a:endParaRPr lang="en-US" sz="985" dirty="0"/>
          </a:p>
        </p:txBody>
      </p:sp>
      <p:sp>
        <p:nvSpPr>
          <p:cNvPr id="23" name="Shape 20"/>
          <p:cNvSpPr/>
          <p:nvPr/>
        </p:nvSpPr>
        <p:spPr>
          <a:xfrm>
            <a:off x="658368" y="3429000"/>
            <a:ext cx="2560320" cy="932688"/>
          </a:xfrm>
          <a:prstGeom prst="roundRect">
            <a:avLst>
              <a:gd name="adj" fmla="val 7843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822960" y="359359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42416" y="3529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Automatable</a:t>
            </a:r>
            <a:endParaRPr lang="en-US" sz="1210" dirty="0"/>
          </a:p>
        </p:txBody>
      </p:sp>
      <p:sp>
        <p:nvSpPr>
          <p:cNvPr id="26" name="Text 23"/>
          <p:cNvSpPr/>
          <p:nvPr/>
        </p:nvSpPr>
        <p:spPr>
          <a:xfrm>
            <a:off x="822960" y="3877056"/>
            <a:ext cx="223113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A clean command model makes QA and docs much easier.</a:t>
            </a:r>
            <a:endParaRPr lang="en-US" sz="985" dirty="0"/>
          </a:p>
        </p:txBody>
      </p:sp>
      <p:sp>
        <p:nvSpPr>
          <p:cNvPr id="27" name="Shape 24"/>
          <p:cNvSpPr/>
          <p:nvPr/>
        </p:nvSpPr>
        <p:spPr>
          <a:xfrm>
            <a:off x="3502152" y="3429000"/>
            <a:ext cx="2057400" cy="932688"/>
          </a:xfrm>
          <a:prstGeom prst="roundRect">
            <a:avLst>
              <a:gd name="adj" fmla="val 7843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666744" y="359359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86200" y="3529584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No mystery UX</a:t>
            </a:r>
            <a:endParaRPr lang="en-US" sz="1210" dirty="0"/>
          </a:p>
        </p:txBody>
      </p:sp>
      <p:sp>
        <p:nvSpPr>
          <p:cNvPr id="30" name="Text 27"/>
          <p:cNvSpPr/>
          <p:nvPr/>
        </p:nvSpPr>
        <p:spPr>
          <a:xfrm>
            <a:off x="3666744" y="3877056"/>
            <a:ext cx="172821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Power stays discoverable.</a:t>
            </a:r>
            <a:endParaRPr lang="en-US" sz="98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Preferences: small controls, big product signal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" y="1175004"/>
            <a:ext cx="3611880" cy="3172968"/>
          </a:xfrm>
          <a:prstGeom prst="roundRect">
            <a:avLst>
              <a:gd name="adj" fmla="val 2305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060704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1060704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3" name="Image 0" descr="/home/ilya/fileoctopus-showcase/focus_crops/f05_settings_gener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216152"/>
            <a:ext cx="3529584" cy="30906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12564" y="1175004"/>
            <a:ext cx="3611880" cy="3172968"/>
          </a:xfrm>
          <a:prstGeom prst="roundRect">
            <a:avLst>
              <a:gd name="adj" fmla="val 2305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2584" y="1060704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782312" y="1060704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7" name="Image 1" descr="/home/ilya/fileoctopus-showcase/focus_crops/f06_settings_termin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53712" y="1216152"/>
            <a:ext cx="3529584" cy="309067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522208" y="1216152"/>
            <a:ext cx="2606040" cy="3090672"/>
          </a:xfrm>
          <a:prstGeom prst="roundRect">
            <a:avLst>
              <a:gd name="adj" fmla="val 2807"/>
            </a:avLst>
          </a:prstGeom>
          <a:solidFill>
            <a:srgbClr val="120C19"/>
          </a:solidFill>
          <a:ln w="8890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8759952" y="1572768"/>
            <a:ext cx="210312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E9E0D0"/>
                </a:solidFill>
              </a:rPr>
              <a:t>A desktop tool earns trust when its defaults are inspectable.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8759952" y="2523744"/>
            <a:ext cx="205740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CFC4B5"/>
                </a:solidFill>
              </a:rPr>
              <a:t>Density, terminal, layout, connections and operation behavior should be first-class, not buried.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8741664" y="3474720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191121"/>
          </a:solidFill>
          <a:ln w="7620">
            <a:solidFill>
              <a:srgbClr val="5E8F89">
                <a:alpha val="55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851392" y="3525012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CFC4B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DENSITY</a:t>
            </a:r>
            <a:endParaRPr lang="en-US" sz="660" dirty="0"/>
          </a:p>
        </p:txBody>
      </p:sp>
      <p:sp>
        <p:nvSpPr>
          <p:cNvPr id="23" name="Shape 19"/>
          <p:cNvSpPr/>
          <p:nvPr/>
        </p:nvSpPr>
        <p:spPr>
          <a:xfrm>
            <a:off x="8741664" y="3822192"/>
            <a:ext cx="1572768" cy="237744"/>
          </a:xfrm>
          <a:prstGeom prst="roundRect">
            <a:avLst>
              <a:gd name="adj" fmla="val 38462"/>
            </a:avLst>
          </a:prstGeom>
          <a:solidFill>
            <a:srgbClr val="191121"/>
          </a:solidFill>
          <a:ln w="7620">
            <a:solidFill>
              <a:srgbClr val="5E8F89">
                <a:alpha val="5500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851392" y="3872484"/>
            <a:ext cx="135331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CFC4B5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SHELL</a:t>
            </a:r>
            <a:endParaRPr lang="en-US" sz="6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Remote connections keep the pane model intact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" y="1056132"/>
            <a:ext cx="4818888" cy="3282696"/>
          </a:xfrm>
          <a:prstGeom prst="roundRect">
            <a:avLst>
              <a:gd name="adj" fmla="val 2228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941832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941832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3" name="Image 0" descr="/home/ilya/fileoctopus-showcase/focus_crops/f07_connection_gri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097280"/>
            <a:ext cx="4736592" cy="32004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701284" y="1056132"/>
            <a:ext cx="4818888" cy="3282696"/>
          </a:xfrm>
          <a:prstGeom prst="roundRect">
            <a:avLst>
              <a:gd name="adj" fmla="val 2228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61304" y="941832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71032" y="941832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7" name="Image 1" descr="/home/ilya/fileoctopus-showcase/focus_crops/f08_sftp_fo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42432" y="1097280"/>
            <a:ext cx="4736592" cy="32004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8368" y="4590288"/>
            <a:ext cx="2578608" cy="713232"/>
          </a:xfrm>
          <a:prstGeom prst="roundRect">
            <a:avLst>
              <a:gd name="adj" fmla="val 10256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2960" y="475488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42416" y="469087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Protocol grid</a:t>
            </a:r>
            <a:endParaRPr lang="en-US" sz="1210" dirty="0"/>
          </a:p>
        </p:txBody>
      </p:sp>
      <p:sp>
        <p:nvSpPr>
          <p:cNvPr id="21" name="Text 17"/>
          <p:cNvSpPr/>
          <p:nvPr/>
        </p:nvSpPr>
        <p:spPr>
          <a:xfrm>
            <a:off x="822960" y="5038344"/>
            <a:ext cx="224942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SFTP, SMB, S3, SSH and cloud connector foundations.</a:t>
            </a:r>
            <a:endParaRPr lang="en-US" sz="985" dirty="0"/>
          </a:p>
        </p:txBody>
      </p:sp>
      <p:sp>
        <p:nvSpPr>
          <p:cNvPr id="22" name="Shape 18"/>
          <p:cNvSpPr/>
          <p:nvPr/>
        </p:nvSpPr>
        <p:spPr>
          <a:xfrm>
            <a:off x="3611880" y="4590288"/>
            <a:ext cx="2578608" cy="713232"/>
          </a:xfrm>
          <a:prstGeom prst="roundRect">
            <a:avLst>
              <a:gd name="adj" fmla="val 10256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776472" y="475488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995928" y="469087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Typed profiles</a:t>
            </a:r>
            <a:endParaRPr lang="en-US" sz="1210" dirty="0"/>
          </a:p>
        </p:txBody>
      </p:sp>
      <p:sp>
        <p:nvSpPr>
          <p:cNvPr id="25" name="Text 21"/>
          <p:cNvSpPr/>
          <p:nvPr/>
        </p:nvSpPr>
        <p:spPr>
          <a:xfrm>
            <a:off x="3776472" y="5038344"/>
            <a:ext cx="2249424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Structured settings instead of ad-hoc connection strings.</a:t>
            </a:r>
            <a:endParaRPr lang="en-US" sz="985" dirty="0"/>
          </a:p>
        </p:txBody>
      </p:sp>
      <p:sp>
        <p:nvSpPr>
          <p:cNvPr id="26" name="Shape 22"/>
          <p:cNvSpPr/>
          <p:nvPr/>
        </p:nvSpPr>
        <p:spPr>
          <a:xfrm>
            <a:off x="6565392" y="4590288"/>
            <a:ext cx="2907792" cy="713232"/>
          </a:xfrm>
          <a:prstGeom prst="roundRect">
            <a:avLst>
              <a:gd name="adj" fmla="val 10256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729984" y="475488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49440" y="469087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Local-feeling remote</a:t>
            </a:r>
            <a:endParaRPr lang="en-US" sz="1210" dirty="0"/>
          </a:p>
        </p:txBody>
      </p:sp>
      <p:sp>
        <p:nvSpPr>
          <p:cNvPr id="29" name="Text 25"/>
          <p:cNvSpPr/>
          <p:nvPr/>
        </p:nvSpPr>
        <p:spPr>
          <a:xfrm>
            <a:off x="6729984" y="5038344"/>
            <a:ext cx="2578608" cy="201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Mounted locations should behave like first-class pane roots.</a:t>
            </a:r>
            <a:endParaRPr lang="en-US" sz="9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Developer workflows live where files live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" y="1037844"/>
            <a:ext cx="3968496" cy="4087368"/>
          </a:xfrm>
          <a:prstGeom prst="roundRect">
            <a:avLst>
              <a:gd name="adj" fmla="val 1843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923544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923544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3" name="Image 0" descr="/home/ilya/fileoctopus-showcase/focus_crops/f09_git_re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078992"/>
            <a:ext cx="3886200" cy="40050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942332" y="1037844"/>
            <a:ext cx="4764024" cy="1837944"/>
          </a:xfrm>
          <a:prstGeom prst="roundRect">
            <a:avLst>
              <a:gd name="adj" fmla="val 3980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102352" y="923544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12080" y="923544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7" name="Image 1" descr="/home/ilya/fileoctopus-showcase/focus_crops/f10_terminal_pan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0" y="1078992"/>
            <a:ext cx="4681728" cy="17556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983480" y="3182112"/>
            <a:ext cx="2267712" cy="950976"/>
          </a:xfrm>
          <a:prstGeom prst="roundRect">
            <a:avLst>
              <a:gd name="adj" fmla="val 769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148072" y="334670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367528" y="3282696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Git review</a:t>
            </a:r>
            <a:endParaRPr lang="en-US" sz="1210" dirty="0"/>
          </a:p>
        </p:txBody>
      </p:sp>
      <p:sp>
        <p:nvSpPr>
          <p:cNvPr id="21" name="Text 17"/>
          <p:cNvSpPr/>
          <p:nvPr/>
        </p:nvSpPr>
        <p:spPr>
          <a:xfrm>
            <a:off x="5148072" y="3630168"/>
            <a:ext cx="19385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Branch status, changed files and diffs in workspace context.</a:t>
            </a:r>
            <a:endParaRPr lang="en-US" sz="985" dirty="0"/>
          </a:p>
        </p:txBody>
      </p:sp>
      <p:sp>
        <p:nvSpPr>
          <p:cNvPr id="22" name="Shape 18"/>
          <p:cNvSpPr/>
          <p:nvPr/>
        </p:nvSpPr>
        <p:spPr>
          <a:xfrm>
            <a:off x="7525512" y="3182112"/>
            <a:ext cx="2267712" cy="950976"/>
          </a:xfrm>
          <a:prstGeom prst="roundRect">
            <a:avLst>
              <a:gd name="adj" fmla="val 769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7690104" y="334670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909560" y="3282696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Terminal panel</a:t>
            </a:r>
            <a:endParaRPr lang="en-US" sz="1210" dirty="0"/>
          </a:p>
        </p:txBody>
      </p:sp>
      <p:sp>
        <p:nvSpPr>
          <p:cNvPr id="25" name="Text 21"/>
          <p:cNvSpPr/>
          <p:nvPr/>
        </p:nvSpPr>
        <p:spPr>
          <a:xfrm>
            <a:off x="7690104" y="3630168"/>
            <a:ext cx="1938528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Local or SSH terminal without leaving the file operation frame.</a:t>
            </a:r>
            <a:endParaRPr lang="en-US" sz="985" dirty="0"/>
          </a:p>
        </p:txBody>
      </p:sp>
      <p:sp>
        <p:nvSpPr>
          <p:cNvPr id="26" name="Shape 22"/>
          <p:cNvSpPr/>
          <p:nvPr/>
        </p:nvSpPr>
        <p:spPr>
          <a:xfrm>
            <a:off x="4983480" y="4416552"/>
            <a:ext cx="4809744" cy="676656"/>
          </a:xfrm>
          <a:prstGeom prst="roundRect">
            <a:avLst>
              <a:gd name="adj" fmla="val 10811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148072" y="458114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367528" y="4517136"/>
            <a:ext cx="4261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Design rule</a:t>
            </a:r>
            <a:endParaRPr lang="en-US" sz="1210" dirty="0"/>
          </a:p>
        </p:txBody>
      </p:sp>
      <p:sp>
        <p:nvSpPr>
          <p:cNvPr id="29" name="Text 25"/>
          <p:cNvSpPr/>
          <p:nvPr/>
        </p:nvSpPr>
        <p:spPr>
          <a:xfrm>
            <a:off x="5148072" y="4864608"/>
            <a:ext cx="4480560" cy="1645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Developer utilities should be contextual, not separate modal worlds.</a:t>
            </a:r>
            <a:endParaRPr lang="en-US" sz="98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Activity rail keeps long operations visible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17220" y="1037844"/>
            <a:ext cx="1911096" cy="4151376"/>
          </a:xfrm>
          <a:prstGeom prst="roundRect">
            <a:avLst>
              <a:gd name="adj" fmla="val 3828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923544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923544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3" name="Image 0" descr="/home/ilya/fileoctopus-showcase/focus_crops/f11_activity_pan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" y="1078992"/>
            <a:ext cx="1828800" cy="40690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2930652" y="1193292"/>
            <a:ext cx="3968496" cy="466344"/>
          </a:xfrm>
          <a:prstGeom prst="roundRect">
            <a:avLst>
              <a:gd name="adj" fmla="val 15686"/>
            </a:avLst>
          </a:prstGeom>
          <a:solidFill>
            <a:srgbClr val="100B16"/>
          </a:solidFill>
          <a:ln w="9525">
            <a:solidFill>
              <a:srgbClr val="51445C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090672" y="1078992"/>
            <a:ext cx="59436" cy="59436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00400" y="1078992"/>
            <a:ext cx="59436" cy="59436"/>
          </a:xfrm>
          <a:prstGeom prst="ellipse">
            <a:avLst/>
          </a:prstGeom>
          <a:solidFill>
            <a:srgbClr val="8E6F82">
              <a:alpha val="75000"/>
            </a:srgbClr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pic>
        <p:nvPicPr>
          <p:cNvPr id="17" name="Image 1" descr="/home/ilya/fileoctopus-showcase/focus_crops/f12_pathba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71800" y="1234440"/>
            <a:ext cx="3886200" cy="384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971800" y="1993392"/>
            <a:ext cx="2852928" cy="841248"/>
          </a:xfrm>
          <a:prstGeom prst="roundRect">
            <a:avLst>
              <a:gd name="adj" fmla="val 8696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136392" y="215798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55848" y="20939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Activity rail</a:t>
            </a:r>
            <a:endParaRPr lang="en-US" sz="1210" dirty="0"/>
          </a:p>
        </p:txBody>
      </p:sp>
      <p:sp>
        <p:nvSpPr>
          <p:cNvPr id="21" name="Text 17"/>
          <p:cNvSpPr/>
          <p:nvPr/>
        </p:nvSpPr>
        <p:spPr>
          <a:xfrm>
            <a:off x="3136392" y="2441448"/>
            <a:ext cx="25237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Jobs, history, terminal and feedback remain visible.</a:t>
            </a:r>
            <a:endParaRPr lang="en-US" sz="985" dirty="0"/>
          </a:p>
        </p:txBody>
      </p:sp>
      <p:sp>
        <p:nvSpPr>
          <p:cNvPr id="22" name="Shape 18"/>
          <p:cNvSpPr/>
          <p:nvPr/>
        </p:nvSpPr>
        <p:spPr>
          <a:xfrm>
            <a:off x="6190488" y="1993392"/>
            <a:ext cx="2852928" cy="841248"/>
          </a:xfrm>
          <a:prstGeom prst="roundRect">
            <a:avLst>
              <a:gd name="adj" fmla="val 8696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55080" y="215798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74536" y="2093976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Path bar</a:t>
            </a:r>
            <a:endParaRPr lang="en-US" sz="1210" dirty="0"/>
          </a:p>
        </p:txBody>
      </p:sp>
      <p:sp>
        <p:nvSpPr>
          <p:cNvPr id="25" name="Text 21"/>
          <p:cNvSpPr/>
          <p:nvPr/>
        </p:nvSpPr>
        <p:spPr>
          <a:xfrm>
            <a:off x="6355080" y="2441448"/>
            <a:ext cx="25237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Breadcrumb plus editable path keeps navigation precise.</a:t>
            </a:r>
            <a:endParaRPr lang="en-US" sz="985" dirty="0"/>
          </a:p>
        </p:txBody>
      </p:sp>
      <p:sp>
        <p:nvSpPr>
          <p:cNvPr id="26" name="Shape 22"/>
          <p:cNvSpPr/>
          <p:nvPr/>
        </p:nvSpPr>
        <p:spPr>
          <a:xfrm>
            <a:off x="2971800" y="3127248"/>
            <a:ext cx="2852928" cy="841248"/>
          </a:xfrm>
          <a:prstGeom prst="roundRect">
            <a:avLst>
              <a:gd name="adj" fmla="val 8696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136392" y="329184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55848" y="3227832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Long operations</a:t>
            </a:r>
            <a:endParaRPr lang="en-US" sz="1210" dirty="0"/>
          </a:p>
        </p:txBody>
      </p:sp>
      <p:sp>
        <p:nvSpPr>
          <p:cNvPr id="29" name="Text 25"/>
          <p:cNvSpPr/>
          <p:nvPr/>
        </p:nvSpPr>
        <p:spPr>
          <a:xfrm>
            <a:off x="3136392" y="3575304"/>
            <a:ext cx="25237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Copy/move/search become jobs with progress and cancellation.</a:t>
            </a:r>
            <a:endParaRPr lang="en-US" sz="985" dirty="0"/>
          </a:p>
        </p:txBody>
      </p:sp>
      <p:sp>
        <p:nvSpPr>
          <p:cNvPr id="30" name="Shape 26"/>
          <p:cNvSpPr/>
          <p:nvPr/>
        </p:nvSpPr>
        <p:spPr>
          <a:xfrm>
            <a:off x="6190488" y="3127248"/>
            <a:ext cx="2852928" cy="841248"/>
          </a:xfrm>
          <a:prstGeom prst="roundRect">
            <a:avLst>
              <a:gd name="adj" fmla="val 8696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355080" y="329184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74536" y="3227832"/>
            <a:ext cx="230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No context loss</a:t>
            </a:r>
            <a:endParaRPr lang="en-US" sz="1210" dirty="0"/>
          </a:p>
        </p:txBody>
      </p:sp>
      <p:sp>
        <p:nvSpPr>
          <p:cNvPr id="33" name="Text 29"/>
          <p:cNvSpPr/>
          <p:nvPr/>
        </p:nvSpPr>
        <p:spPr>
          <a:xfrm>
            <a:off x="6355080" y="3575304"/>
            <a:ext cx="2523744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Filesystem state, terminal and task state stay connected.</a:t>
            </a:r>
            <a:endParaRPr lang="en-US" sz="985" dirty="0"/>
          </a:p>
        </p:txBody>
      </p:sp>
      <p:sp>
        <p:nvSpPr>
          <p:cNvPr id="34" name="Shape 30"/>
          <p:cNvSpPr/>
          <p:nvPr/>
        </p:nvSpPr>
        <p:spPr>
          <a:xfrm>
            <a:off x="9646920" y="1078992"/>
            <a:ext cx="1133856" cy="4069080"/>
          </a:xfrm>
          <a:prstGeom prst="roundRect">
            <a:avLst>
              <a:gd name="adj" fmla="val 6452"/>
            </a:avLst>
          </a:prstGeom>
          <a:solidFill>
            <a:srgbClr val="120C19"/>
          </a:solidFill>
          <a:ln w="8890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9857232" y="1481328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9E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E9E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rail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9893808" y="2194560"/>
            <a:ext cx="73152" cy="73152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0012680" y="21579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copy</a:t>
            </a:r>
            <a:endParaRPr lang="en-US" sz="640" dirty="0"/>
          </a:p>
        </p:txBody>
      </p:sp>
      <p:sp>
        <p:nvSpPr>
          <p:cNvPr id="38" name="Text 34"/>
          <p:cNvSpPr/>
          <p:nvPr/>
        </p:nvSpPr>
        <p:spPr>
          <a:xfrm>
            <a:off x="10287000" y="2157984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72%</a:t>
            </a:r>
            <a:endParaRPr lang="en-US" sz="640" dirty="0"/>
          </a:p>
        </p:txBody>
      </p:sp>
      <p:sp>
        <p:nvSpPr>
          <p:cNvPr id="39" name="Shape 35"/>
          <p:cNvSpPr/>
          <p:nvPr/>
        </p:nvSpPr>
        <p:spPr>
          <a:xfrm>
            <a:off x="9893808" y="2615184"/>
            <a:ext cx="73152" cy="73152"/>
          </a:xfrm>
          <a:prstGeom prst="ellipse">
            <a:avLst/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10012680" y="25786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sync</a:t>
            </a:r>
            <a:endParaRPr lang="en-US" sz="640" dirty="0"/>
          </a:p>
        </p:txBody>
      </p:sp>
      <p:sp>
        <p:nvSpPr>
          <p:cNvPr id="41" name="Text 37"/>
          <p:cNvSpPr/>
          <p:nvPr/>
        </p:nvSpPr>
        <p:spPr>
          <a:xfrm>
            <a:off x="10287000" y="2578608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8E6F8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ok</a:t>
            </a:r>
            <a:endParaRPr lang="en-US" sz="640" dirty="0"/>
          </a:p>
        </p:txBody>
      </p:sp>
      <p:sp>
        <p:nvSpPr>
          <p:cNvPr id="42" name="Shape 38"/>
          <p:cNvSpPr/>
          <p:nvPr/>
        </p:nvSpPr>
        <p:spPr>
          <a:xfrm>
            <a:off x="9893808" y="3035808"/>
            <a:ext cx="73152" cy="73152"/>
          </a:xfrm>
          <a:prstGeom prst="ellipse">
            <a:avLst/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10012680" y="299923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ssh</a:t>
            </a:r>
            <a:endParaRPr lang="en-US" sz="640" dirty="0"/>
          </a:p>
        </p:txBody>
      </p:sp>
      <p:sp>
        <p:nvSpPr>
          <p:cNvPr id="44" name="Text 40"/>
          <p:cNvSpPr/>
          <p:nvPr/>
        </p:nvSpPr>
        <p:spPr>
          <a:xfrm>
            <a:off x="10287000" y="2999232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E9E0D0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live</a:t>
            </a:r>
            <a:endParaRPr lang="en-US" sz="640" dirty="0"/>
          </a:p>
        </p:txBody>
      </p:sp>
      <p:sp>
        <p:nvSpPr>
          <p:cNvPr id="45" name="Shape 41"/>
          <p:cNvSpPr/>
          <p:nvPr/>
        </p:nvSpPr>
        <p:spPr>
          <a:xfrm>
            <a:off x="9893808" y="3456432"/>
            <a:ext cx="73152" cy="73152"/>
          </a:xfrm>
          <a:prstGeom prst="ellipse">
            <a:avLst/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0012680" y="341985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</a:t>
            </a:r>
            <a:endParaRPr lang="en-US" sz="640" dirty="0"/>
          </a:p>
        </p:txBody>
      </p:sp>
      <p:sp>
        <p:nvSpPr>
          <p:cNvPr id="47" name="Text 43"/>
          <p:cNvSpPr/>
          <p:nvPr/>
        </p:nvSpPr>
        <p:spPr>
          <a:xfrm>
            <a:off x="10287000" y="3419856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+3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-1051560"/>
            <a:ext cx="4937760" cy="4937760"/>
          </a:xfrm>
          <a:prstGeom prst="arc">
            <a:avLst/>
          </a:prstGeom>
          <a:noFill/>
          <a:ln w="14605">
            <a:solidFill>
              <a:srgbClr val="34243F">
                <a:alpha val="7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823960" y="4187952"/>
            <a:ext cx="4389120" cy="4389120"/>
          </a:xfrm>
          <a:prstGeom prst="arc">
            <a:avLst/>
          </a:prstGeom>
          <a:noFill/>
          <a:ln w="11430">
            <a:solidFill>
              <a:srgbClr val="5E8F89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4243F"/>
          </a:solidFill>
          <a:ln w="12700">
            <a:solidFill>
              <a:srgbClr val="34243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31089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8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FILEOCTOPUS</a:t>
            </a:r>
            <a:endParaRPr lang="en-US" sz="740" dirty="0"/>
          </a:p>
        </p:txBody>
      </p:sp>
      <p:sp>
        <p:nvSpPr>
          <p:cNvPr id="7" name="Text 5"/>
          <p:cNvSpPr/>
          <p:nvPr/>
        </p:nvSpPr>
        <p:spPr>
          <a:xfrm>
            <a:off x="530352" y="612648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9E0D0"/>
                </a:solidFill>
              </a:rPr>
              <a:t>Architecture: safety belongs at the boundary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653796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Aubergine Muted Technical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8339328" y="6537960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Tauri v2 · Rust · React/TypeScript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94944" y="1481328"/>
            <a:ext cx="2322576" cy="969264"/>
          </a:xfrm>
          <a:prstGeom prst="roundRect">
            <a:avLst>
              <a:gd name="adj" fmla="val 7547"/>
            </a:avLst>
          </a:prstGeom>
          <a:solidFill>
            <a:srgbClr val="15101D"/>
          </a:solidFill>
          <a:ln w="8890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17373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E9E0D0"/>
                </a:solidFill>
              </a:rPr>
              <a:t>React/TS UI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877824" y="2048256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panes · dialogs · commands</a:t>
            </a:r>
            <a:endParaRPr lang="en-US" sz="720" dirty="0"/>
          </a:p>
        </p:txBody>
      </p:sp>
      <p:sp>
        <p:nvSpPr>
          <p:cNvPr id="13" name="Shape 11"/>
          <p:cNvSpPr/>
          <p:nvPr/>
        </p:nvSpPr>
        <p:spPr>
          <a:xfrm>
            <a:off x="3182112" y="1965960"/>
            <a:ext cx="1115568" cy="0"/>
          </a:xfrm>
          <a:prstGeom prst="line">
            <a:avLst/>
          </a:prstGeom>
          <a:noFill/>
          <a:ln w="19050">
            <a:solidFill>
              <a:srgbClr val="5E8F89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044952" y="173736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typed IPC</a:t>
            </a:r>
            <a:endParaRPr lang="en-US" sz="690" dirty="0"/>
          </a:p>
        </p:txBody>
      </p:sp>
      <p:sp>
        <p:nvSpPr>
          <p:cNvPr id="15" name="Shape 13"/>
          <p:cNvSpPr/>
          <p:nvPr/>
        </p:nvSpPr>
        <p:spPr>
          <a:xfrm>
            <a:off x="4498848" y="1481328"/>
            <a:ext cx="2322576" cy="969264"/>
          </a:xfrm>
          <a:prstGeom prst="roundRect">
            <a:avLst>
              <a:gd name="adj" fmla="val 7547"/>
            </a:avLst>
          </a:prstGeom>
          <a:solidFill>
            <a:srgbClr val="15101D"/>
          </a:solidFill>
          <a:ln w="8890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81728" y="1737360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E9E0D0"/>
                </a:solidFill>
              </a:rPr>
              <a:t>Rust core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4681728" y="2048256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vfs · jobs · app-ipc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004304" y="1965960"/>
            <a:ext cx="1115568" cy="0"/>
          </a:xfrm>
          <a:prstGeom prst="line">
            <a:avLst/>
          </a:prstGeom>
          <a:noFill/>
          <a:ln w="19050">
            <a:solidFill>
              <a:srgbClr val="8E6F82">
                <a:alpha val="90000"/>
              </a:srgbClr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867144" y="173736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dirty="0">
                <a:solidFill>
                  <a:srgbClr val="8E6F82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providers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8321040" y="1481328"/>
            <a:ext cx="2322576" cy="969264"/>
          </a:xfrm>
          <a:prstGeom prst="roundRect">
            <a:avLst>
              <a:gd name="adj" fmla="val 7547"/>
            </a:avLst>
          </a:prstGeom>
          <a:solidFill>
            <a:srgbClr val="15101D"/>
          </a:solidFill>
          <a:ln w="8890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22208" y="173736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E9E0D0"/>
                </a:solidFill>
              </a:rPr>
              <a:t>Storage</a:t>
            </a:r>
            <a:endParaRPr lang="en-US" sz="1380" dirty="0"/>
          </a:p>
        </p:txBody>
      </p:sp>
      <p:sp>
        <p:nvSpPr>
          <p:cNvPr id="22" name="Text 20"/>
          <p:cNvSpPr/>
          <p:nvPr/>
        </p:nvSpPr>
        <p:spPr>
          <a:xfrm>
            <a:off x="8522208" y="2048256"/>
            <a:ext cx="1938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7F828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local · sftp · smb · s3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94944" y="3154680"/>
            <a:ext cx="2788920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9536" y="331927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32552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No raw filesystem access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859536" y="3602736"/>
            <a:ext cx="24597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The frontend does not get unrestricted FS plugin power.</a:t>
            </a:r>
            <a:endParaRPr lang="en-US" sz="985" dirty="0"/>
          </a:p>
        </p:txBody>
      </p:sp>
      <p:sp>
        <p:nvSpPr>
          <p:cNvPr id="27" name="Shape 25"/>
          <p:cNvSpPr/>
          <p:nvPr/>
        </p:nvSpPr>
        <p:spPr>
          <a:xfrm>
            <a:off x="3785616" y="3154680"/>
            <a:ext cx="2788920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950208" y="331927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9664" y="32552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ResourceUri model</a:t>
            </a:r>
            <a:endParaRPr lang="en-US" sz="1210" dirty="0"/>
          </a:p>
        </p:txBody>
      </p:sp>
      <p:sp>
        <p:nvSpPr>
          <p:cNvPr id="30" name="Text 28"/>
          <p:cNvSpPr/>
          <p:nvPr/>
        </p:nvSpPr>
        <p:spPr>
          <a:xfrm>
            <a:off x="3950208" y="3602736"/>
            <a:ext cx="24597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Resources cross the boundary as typed URI strings.</a:t>
            </a:r>
            <a:endParaRPr lang="en-US" sz="985" dirty="0"/>
          </a:p>
        </p:txBody>
      </p:sp>
      <p:sp>
        <p:nvSpPr>
          <p:cNvPr id="31" name="Shape 29"/>
          <p:cNvSpPr/>
          <p:nvPr/>
        </p:nvSpPr>
        <p:spPr>
          <a:xfrm>
            <a:off x="6876288" y="3154680"/>
            <a:ext cx="2788920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040880" y="331927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3255264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Job pipeline</a:t>
            </a:r>
            <a:endParaRPr lang="en-US" sz="1210" dirty="0"/>
          </a:p>
        </p:txBody>
      </p:sp>
      <p:sp>
        <p:nvSpPr>
          <p:cNvPr id="34" name="Text 32"/>
          <p:cNvSpPr/>
          <p:nvPr/>
        </p:nvSpPr>
        <p:spPr>
          <a:xfrm>
            <a:off x="7040880" y="3602736"/>
            <a:ext cx="24597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Mutations are planned, cancellable and observable.</a:t>
            </a:r>
            <a:endParaRPr lang="en-US" sz="985" dirty="0"/>
          </a:p>
        </p:txBody>
      </p:sp>
      <p:sp>
        <p:nvSpPr>
          <p:cNvPr id="35" name="Shape 33"/>
          <p:cNvSpPr/>
          <p:nvPr/>
        </p:nvSpPr>
        <p:spPr>
          <a:xfrm>
            <a:off x="2240280" y="4315968"/>
            <a:ext cx="2788920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404872" y="44805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24328" y="4416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Mirrored DTOs</a:t>
            </a:r>
            <a:endParaRPr lang="en-US" sz="1210" dirty="0"/>
          </a:p>
        </p:txBody>
      </p:sp>
      <p:sp>
        <p:nvSpPr>
          <p:cNvPr id="38" name="Text 36"/>
          <p:cNvSpPr/>
          <p:nvPr/>
        </p:nvSpPr>
        <p:spPr>
          <a:xfrm>
            <a:off x="2404872" y="4764024"/>
            <a:ext cx="24597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Rust and TypeScript contracts stay synchronized.</a:t>
            </a:r>
            <a:endParaRPr lang="en-US" sz="985" dirty="0"/>
          </a:p>
        </p:txBody>
      </p:sp>
      <p:sp>
        <p:nvSpPr>
          <p:cNvPr id="39" name="Shape 37"/>
          <p:cNvSpPr/>
          <p:nvPr/>
        </p:nvSpPr>
        <p:spPr>
          <a:xfrm>
            <a:off x="5330952" y="4315968"/>
            <a:ext cx="2788920" cy="786384"/>
          </a:xfrm>
          <a:prstGeom prst="roundRect">
            <a:avLst>
              <a:gd name="adj" fmla="val 9302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95544" y="4480560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4416552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Stable errors</a:t>
            </a:r>
            <a:endParaRPr lang="en-US" sz="1210" dirty="0"/>
          </a:p>
        </p:txBody>
      </p:sp>
      <p:sp>
        <p:nvSpPr>
          <p:cNvPr id="42" name="Text 40"/>
          <p:cNvSpPr/>
          <p:nvPr/>
        </p:nvSpPr>
        <p:spPr>
          <a:xfrm>
            <a:off x="5495544" y="4764024"/>
            <a:ext cx="2459736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Errors cross as codes and user-visible messages.</a:t>
            </a:r>
            <a:endParaRPr lang="en-US" sz="98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9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90A"/>
          </a:solidFill>
          <a:ln w="12700">
            <a:solidFill>
              <a:srgbClr val="08090A"/>
            </a:solidFill>
            <a:prstDash val="solid"/>
          </a:ln>
        </p:spPr>
      </p:sp>
      <p:pic>
        <p:nvPicPr>
          <p:cNvPr id="3" name="Image 0" descr="/home/ilya/fileoctopus-showcase/branding/generated/aubergine-technical/fileoctopus-aubergine-technical-app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941832"/>
            <a:ext cx="3429000" cy="3429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-1051560" y="365760"/>
            <a:ext cx="5486400" cy="5486400"/>
          </a:xfrm>
          <a:prstGeom prst="arc">
            <a:avLst/>
          </a:prstGeom>
          <a:noFill/>
          <a:ln w="22860">
            <a:solidFill>
              <a:srgbClr val="34243F">
                <a:alpha val="8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9692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spc="240" kern="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OPEN SOURCE NATIVE DESKTOP TOOL</a:t>
            </a:r>
            <a:endParaRPr lang="en-US" sz="740" dirty="0"/>
          </a:p>
        </p:txBody>
      </p:sp>
      <p:sp>
        <p:nvSpPr>
          <p:cNvPr id="6" name="Text 3"/>
          <p:cNvSpPr/>
          <p:nvPr/>
        </p:nvSpPr>
        <p:spPr>
          <a:xfrm>
            <a:off x="694944" y="137160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9E0D0"/>
                </a:solidFill>
              </a:rPr>
              <a:t>FileOctopus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49808" y="2249424"/>
            <a:ext cx="5248656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70" dirty="0">
                <a:solidFill>
                  <a:srgbClr val="CFC4B5"/>
                </a:solidFill>
              </a:rPr>
              <a:t>Aubergine technical identity for a safer, faster file operations workflow.</a:t>
            </a:r>
            <a:endParaRPr lang="en-US" sz="1470" dirty="0"/>
          </a:p>
        </p:txBody>
      </p:sp>
      <p:sp>
        <p:nvSpPr>
          <p:cNvPr id="8" name="Shape 5"/>
          <p:cNvSpPr/>
          <p:nvPr/>
        </p:nvSpPr>
        <p:spPr>
          <a:xfrm>
            <a:off x="749808" y="3246120"/>
            <a:ext cx="2907792" cy="822960"/>
          </a:xfrm>
          <a:prstGeom prst="roundRect">
            <a:avLst>
              <a:gd name="adj" fmla="val 888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914400" y="341071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33856" y="334670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Presentation deck</a:t>
            </a:r>
            <a:endParaRPr lang="en-US" sz="1210" dirty="0"/>
          </a:p>
        </p:txBody>
      </p:sp>
      <p:sp>
        <p:nvSpPr>
          <p:cNvPr id="11" name="Text 8"/>
          <p:cNvSpPr/>
          <p:nvPr/>
        </p:nvSpPr>
        <p:spPr>
          <a:xfrm>
            <a:off x="914400" y="3694176"/>
            <a:ext cx="2578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Product story in selected brand direction 03.</a:t>
            </a:r>
            <a:endParaRPr lang="en-US" sz="985" dirty="0"/>
          </a:p>
        </p:txBody>
      </p:sp>
      <p:sp>
        <p:nvSpPr>
          <p:cNvPr id="12" name="Shape 9"/>
          <p:cNvSpPr/>
          <p:nvPr/>
        </p:nvSpPr>
        <p:spPr>
          <a:xfrm>
            <a:off x="3959352" y="3246120"/>
            <a:ext cx="2907792" cy="822960"/>
          </a:xfrm>
          <a:prstGeom prst="roundRect">
            <a:avLst>
              <a:gd name="adj" fmla="val 888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123944" y="3410712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8E6F82"/>
          </a:solidFill>
          <a:ln w="12700">
            <a:solidFill>
              <a:srgbClr val="8E6F82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43400" y="3346704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Brand system</a:t>
            </a:r>
            <a:endParaRPr lang="en-US" sz="1210" dirty="0"/>
          </a:p>
        </p:txBody>
      </p:sp>
      <p:sp>
        <p:nvSpPr>
          <p:cNvPr id="15" name="Text 12"/>
          <p:cNvSpPr/>
          <p:nvPr/>
        </p:nvSpPr>
        <p:spPr>
          <a:xfrm>
            <a:off x="4123944" y="3694176"/>
            <a:ext cx="2578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Aubergine, bone, muted steel and controlled tentacle motif.</a:t>
            </a:r>
            <a:endParaRPr lang="en-US" sz="985" dirty="0"/>
          </a:p>
        </p:txBody>
      </p:sp>
      <p:sp>
        <p:nvSpPr>
          <p:cNvPr id="16" name="Shape 13"/>
          <p:cNvSpPr/>
          <p:nvPr/>
        </p:nvSpPr>
        <p:spPr>
          <a:xfrm>
            <a:off x="749808" y="4370832"/>
            <a:ext cx="2907792" cy="822960"/>
          </a:xfrm>
          <a:prstGeom prst="roundRect">
            <a:avLst>
              <a:gd name="adj" fmla="val 888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14400" y="45354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E9E0D0"/>
          </a:solidFill>
          <a:ln w="12700">
            <a:solidFill>
              <a:srgbClr val="E9E0D0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33856" y="447141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Next asset</a:t>
            </a:r>
            <a:endParaRPr lang="en-US" sz="1210" dirty="0"/>
          </a:p>
        </p:txBody>
      </p:sp>
      <p:sp>
        <p:nvSpPr>
          <p:cNvPr id="19" name="Text 16"/>
          <p:cNvSpPr/>
          <p:nvPr/>
        </p:nvSpPr>
        <p:spPr>
          <a:xfrm>
            <a:off x="914400" y="4818888"/>
            <a:ext cx="2578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Vectorized logo and README/social hero from this direction.</a:t>
            </a:r>
            <a:endParaRPr lang="en-US" sz="985" dirty="0"/>
          </a:p>
        </p:txBody>
      </p:sp>
      <p:sp>
        <p:nvSpPr>
          <p:cNvPr id="20" name="Shape 17"/>
          <p:cNvSpPr/>
          <p:nvPr/>
        </p:nvSpPr>
        <p:spPr>
          <a:xfrm>
            <a:off x="3959352" y="4370832"/>
            <a:ext cx="2907792" cy="822960"/>
          </a:xfrm>
          <a:prstGeom prst="roundRect">
            <a:avLst>
              <a:gd name="adj" fmla="val 8889"/>
            </a:avLst>
          </a:prstGeom>
          <a:solidFill>
            <a:srgbClr val="15101D"/>
          </a:solidFill>
          <a:ln w="8255">
            <a:solidFill>
              <a:srgbClr val="3B3045"/>
            </a:solidFill>
            <a:prstDash val="solid"/>
          </a:ln>
          <a:effectLst>
            <a:outerShdw sx="100000" sy="100000" kx="0" ky="0" algn="bl" rotWithShape="0" blurRad="44450" dist="15240" dir="2700000">
              <a:srgbClr val="000000">
                <a:alpha val="2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123944" y="4535424"/>
            <a:ext cx="109728" cy="109728"/>
          </a:xfrm>
          <a:prstGeom prst="roundRect">
            <a:avLst>
              <a:gd name="adj" fmla="val 16667"/>
            </a:avLst>
          </a:prstGeom>
          <a:solidFill>
            <a:srgbClr val="5E8F89"/>
          </a:solidFill>
          <a:ln w="12700">
            <a:solidFill>
              <a:srgbClr val="5E8F8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43400" y="4471416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E9E0D0"/>
                </a:solidFill>
              </a:rPr>
              <a:t>GitHub</a:t>
            </a:r>
            <a:endParaRPr lang="en-US" sz="1210" dirty="0"/>
          </a:p>
        </p:txBody>
      </p:sp>
      <p:sp>
        <p:nvSpPr>
          <p:cNvPr id="23" name="Text 20"/>
          <p:cNvSpPr/>
          <p:nvPr/>
        </p:nvSpPr>
        <p:spPr>
          <a:xfrm>
            <a:off x="4123944" y="4818888"/>
            <a:ext cx="2578608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85" dirty="0">
                <a:solidFill>
                  <a:srgbClr val="CFC4B5"/>
                </a:solidFill>
              </a:rPr>
              <a:t>github.com/ilyafedotov-ops/FileOctopus</a:t>
            </a:r>
            <a:endParaRPr lang="en-US" sz="985" dirty="0"/>
          </a:p>
        </p:txBody>
      </p:sp>
      <p:sp>
        <p:nvSpPr>
          <p:cNvPr id="24" name="Text 21"/>
          <p:cNvSpPr/>
          <p:nvPr/>
        </p:nvSpPr>
        <p:spPr>
          <a:xfrm>
            <a:off x="749808" y="605332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E8F8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github.com/ilyafedotov-ops/FileOctopus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ilyafedotov-ops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FileOctopus — native desktop file manager</dc:title>
  <dc:subject>FileOctopus product presentation — Aubergine Muted Technical</dc:subject>
  <dc:creator>Ilya Fedotov</dc:creator>
  <cp:lastModifiedBy>Ilya Fedotov</cp:lastModifiedBy>
  <cp:revision>1</cp:revision>
  <dcterms:created xsi:type="dcterms:W3CDTF">2026-07-05T12:15:15Z</dcterms:created>
  <dcterms:modified xsi:type="dcterms:W3CDTF">2026-07-05T12:15:15Z</dcterms:modified>
</cp:coreProperties>
</file>